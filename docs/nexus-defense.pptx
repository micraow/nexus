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cs typeface="思源黑体 CN" panose="020B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思源黑体 CN" panose="020B0500000000000000" charset="-122"/>
              </a:rPr>
            </a:fld>
            <a:endParaRPr lang="zh-CN" altLang="en-US">
              <a:cs typeface="思源黑体 CN" panose="020B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cs typeface="思源黑体 CN" panose="020B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思源黑体 CN" panose="020B0500000000000000" charset="-122"/>
              </a:rPr>
            </a:fld>
            <a:endParaRPr lang="zh-CN" altLang="en-US">
              <a:cs typeface="思源黑体 CN" panose="020B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思源黑体 CN" panose="020B0500000000000000" charset="-122"/>
        <a:ea typeface="思源黑体 CN" panose="020B0500000000000000" charset="-122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项目事实来源：README.md 与 docs/development-report.md。Logo 使用 src-tauri/icons/icon.svg 的原始项目资产。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代码规模统计基于项目当前受版本控制的源文件：git ls-files 下 src、extension、src-tauri 中的 .ts、.vue、.rs、.css、.html、.json 文件，共 30,797 行，页面展示为约 30,800 行。技术栈与职责来源：docs/development-report.md、package.json、src-tauri/Cargo.toml。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GitHub 与 CI 事实来源：远程仓库 https://github.com/Micraow/nexus；.github/workflows/package.yml。工作流在推送 v* 标签时运行，扩展在 Ubuntu 构建 ZIP，桌面端矩阵构建 Windows x86_64、Linux x86_64、macOS ARM64，并上传 artifact。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本页为现场截图预留页。请将项目实际应用或浏览器截图放入虚线框内，保留标题与说明即可。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本页为现场截图预留页。请将项目实际应用或浏览器截图放入虚线框内，保留标题与说明即可。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本页为现场截图预留页。请将项目实际应用或浏览器截图放入虚线框内，保留标题与说明即可。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本页根据 README.md 的“追问分支”功能与 docs/development-report.md 的对话追问、导航节点描述制作。现场演示时说明：新问题从当前主题或探索节点创建，回答作为助手消息挂到当前分支，并可继续产生下一层分支。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项目仓库：https://github.com/Micraow/nexus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hyperlink" Target="https://github.com/Micraow/nexu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直接连接符 16"/>
          <p:cNvSpPr>
            <a:spLocks noGrp="1"/>
          </p:cNvSpPr>
          <p:nvPr/>
        </p:nvSpPr>
        <p:spPr>
          <a:xfrm>
            <a:off x="7810500" y="1619250"/>
            <a:ext cx="2047875" cy="904875"/>
          </a:xfrm>
          <a:prstGeom prst="line">
            <a:avLst/>
          </a:prstGeom>
          <a:noFill/>
          <a:ln w="19050">
            <a:solidFill>
              <a:srgbClr val="1C5367"/>
            </a:solidFill>
          </a:ln>
        </p:spPr>
      </p:sp>
      <p:sp>
        <p:nvSpPr>
          <p:cNvPr id="2" name="直接连接符 1"/>
          <p:cNvSpPr>
            <a:spLocks noGrp="1"/>
          </p:cNvSpPr>
          <p:nvPr/>
        </p:nvSpPr>
        <p:spPr>
          <a:xfrm>
            <a:off x="7810500" y="1619250"/>
            <a:ext cx="762000" cy="2190750"/>
          </a:xfrm>
          <a:prstGeom prst="line">
            <a:avLst/>
          </a:prstGeom>
          <a:noFill/>
          <a:ln w="19050">
            <a:solidFill>
              <a:srgbClr val="1C5367"/>
            </a:solidFill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9858375" y="2524125"/>
            <a:ext cx="714375" cy="1809750"/>
          </a:xfrm>
          <a:prstGeom prst="line">
            <a:avLst/>
          </a:prstGeom>
          <a:noFill/>
          <a:ln w="19050">
            <a:solidFill>
              <a:srgbClr val="1C5367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8572500" y="3810000"/>
            <a:ext cx="2000250" cy="523875"/>
          </a:xfrm>
          <a:prstGeom prst="line">
            <a:avLst/>
          </a:prstGeom>
          <a:noFill/>
          <a:ln w="19050">
            <a:solidFill>
              <a:srgbClr val="1C5367"/>
            </a:solidFill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7810500" y="1619250"/>
            <a:ext cx="2762250" cy="2714625"/>
          </a:xfrm>
          <a:prstGeom prst="line">
            <a:avLst/>
          </a:prstGeom>
          <a:noFill/>
          <a:ln w="9525">
            <a:solidFill>
              <a:srgbClr val="174050"/>
            </a:solidFill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7639050" y="1447800"/>
            <a:ext cx="342900" cy="342900"/>
          </a:xfrm>
          <a:prstGeom prst="ellipse">
            <a:avLst/>
          </a:prstGeom>
          <a:solidFill>
            <a:srgbClr val="65D8F1"/>
          </a:solidFill>
          <a:ln w="0">
            <a:solidFill>
              <a:srgbClr val="65D8F1"/>
            </a:solidFill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9753600" y="2419350"/>
            <a:ext cx="209550" cy="209550"/>
          </a:xfrm>
          <a:prstGeom prst="ellipse">
            <a:avLst/>
          </a:prstGeom>
          <a:solidFill>
            <a:srgbClr val="7FB8DE"/>
          </a:solidFill>
          <a:ln w="0">
            <a:solidFill>
              <a:srgbClr val="7FB8DE"/>
            </a:solidFill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8458200" y="3695700"/>
            <a:ext cx="228600" cy="228600"/>
          </a:xfrm>
          <a:prstGeom prst="ellipse">
            <a:avLst/>
          </a:prstGeom>
          <a:solidFill>
            <a:srgbClr val="7BE0C6"/>
          </a:solidFill>
          <a:ln w="0">
            <a:solidFill>
              <a:srgbClr val="7BE0C6"/>
            </a:solidFill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0439400" y="4200525"/>
            <a:ext cx="266700" cy="266700"/>
          </a:xfrm>
          <a:prstGeom prst="ellipse">
            <a:avLst/>
          </a:prstGeom>
          <a:solidFill>
            <a:srgbClr val="7FB8DE"/>
          </a:solidFill>
          <a:ln w="0">
            <a:solidFill>
              <a:srgbClr val="7FB8DE"/>
            </a:solidFill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819150"/>
            <a:ext cx="1066800" cy="106680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723900" y="2266950"/>
            <a:ext cx="5905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862"/>
          </a:bodyPr>
          <a:lstStyle/>
          <a:p>
            <a:pPr algn="l">
              <a:lnSpc>
                <a:spcPct val="108000"/>
              </a:lnSpc>
              <a:buNone/>
              <a:defRPr sz="48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80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Nexus 织知</a:t>
            </a:r>
            <a:endParaRPr sz="480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3143250"/>
            <a:ext cx="619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AI 对话知识管理与树状探索</a:t>
            </a:r>
            <a:endParaRPr sz="2025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3867150"/>
            <a:ext cx="5905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把分散在不同会话里的问答，整理为可检索、可追溯、可继续追问的知识网络</a:t>
            </a:r>
            <a:endParaRPr sz="157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4673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7BE0C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7BE0C6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程序设计实践课程项目</a:t>
            </a:r>
            <a:endParaRPr sz="1200" b="1">
              <a:solidFill>
                <a:srgbClr val="7BE0C6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762000" y="5905500"/>
            <a:ext cx="2762250" cy="0"/>
          </a:xfrm>
          <a:prstGeom prst="line">
            <a:avLst/>
          </a:prstGeom>
          <a:noFill/>
          <a:ln w="28575">
            <a:solidFill>
              <a:srgbClr val="65D8F1"/>
            </a:solidFill>
          </a:ln>
        </p:spPr>
      </p:sp>
      <p:sp>
        <p:nvSpPr>
          <p:cNvPr id="10" name="文本框 9"/>
          <p:cNvSpPr txBox="1"/>
          <p:nvPr/>
        </p:nvSpPr>
        <p:spPr>
          <a:xfrm>
            <a:off x="762000" y="6086475"/>
            <a:ext cx="2667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彭勃</a:t>
            </a:r>
            <a:r>
              <a:rPr lang="en-US" altLang="zh-CN">
                <a:solidFill>
                  <a:schemeClr val="bg1"/>
                </a:solidFill>
              </a:rPr>
              <a:t> 25371248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85800" y="34290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02  /  实现基础</a:t>
            </a:r>
            <a:endParaRPr sz="1050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技术栈与实现规模</a:t>
            </a:r>
            <a:endParaRPr sz="300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3335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业务逻辑集中在 TypeScript，桌面能力由 Tauri 连接到本地系统</a:t>
            </a:r>
            <a:endParaRPr sz="135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809750"/>
            <a:ext cx="10820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Nexus 织知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82350" y="65151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02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247900"/>
            <a:ext cx="31432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4650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650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≈ 30,800</a:t>
            </a:r>
            <a:endParaRPr sz="4650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30861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行代码</a:t>
            </a:r>
            <a:endParaRPr sz="1725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3581400"/>
            <a:ext cx="2952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20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按 src、extension、src-tauri 中受版本控制的 TS / Vue / Rust / CSS / HTML / JSON 文件统计</a:t>
            </a:r>
            <a:endParaRPr sz="120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4229100" y="2209800"/>
            <a:ext cx="0" cy="342900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62500" y="20955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层次</a:t>
            </a:r>
            <a:endParaRPr sz="1050" b="1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0" y="209550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技术 / 库</a:t>
            </a:r>
            <a:endParaRPr sz="1050" b="1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239250" y="2095500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在项目中的作用</a:t>
            </a:r>
            <a:endParaRPr sz="1050" b="1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762500" y="2647950"/>
            <a:ext cx="6629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762500" y="22669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7BE0C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7BE0C6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前端</a:t>
            </a:r>
            <a:endParaRPr sz="1275" b="1">
              <a:solidFill>
                <a:srgbClr val="7BE0C6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05500" y="22669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Vue 3 + TypeScript + Vite</a:t>
            </a:r>
            <a:endParaRPr sz="13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239250" y="22669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页面、类型与构建</a:t>
            </a:r>
            <a:endParaRPr sz="120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4762500" y="3162300"/>
            <a:ext cx="6629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762500" y="27813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7BE0C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7BE0C6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状态</a:t>
            </a:r>
            <a:endParaRPr sz="1275" b="1">
              <a:solidFill>
                <a:srgbClr val="7BE0C6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905500" y="27813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Pinia</a:t>
            </a:r>
            <a:endParaRPr sz="13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239250" y="27813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workspace store 统一编排</a:t>
            </a:r>
            <a:endParaRPr sz="120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4762500" y="3676650"/>
            <a:ext cx="6629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62500" y="32956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7BE0C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7BE0C6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桌面</a:t>
            </a:r>
            <a:endParaRPr sz="1275" b="1">
              <a:solidFill>
                <a:srgbClr val="7BE0C6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905500" y="32956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Tauri 2.0 + Rust</a:t>
            </a:r>
            <a:endParaRPr sz="13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239250" y="32956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文件、HTTP、对话框、剪贴板</a:t>
            </a:r>
            <a:endParaRPr sz="120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4762500" y="4191000"/>
            <a:ext cx="6629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762500" y="38100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7BE0C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7BE0C6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存储</a:t>
            </a:r>
            <a:endParaRPr sz="1275" b="1">
              <a:solidFill>
                <a:srgbClr val="7BE0C6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905500" y="3810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sql.js / SQLite WASM</a:t>
            </a:r>
            <a:endParaRPr sz="13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239250" y="38100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本地数据库与全文检索</a:t>
            </a:r>
            <a:endParaRPr sz="120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4762500" y="4705350"/>
            <a:ext cx="6629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762500" y="43243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7BE0C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7BE0C6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图谱</a:t>
            </a:r>
            <a:endParaRPr sz="1275" b="1">
              <a:solidFill>
                <a:srgbClr val="7BE0C6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905500" y="43243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D3.js + Web Worker</a:t>
            </a:r>
            <a:endParaRPr sz="13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239250" y="43243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力向布局与非阻塞派生计算</a:t>
            </a:r>
            <a:endParaRPr sz="120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4762500" y="5219700"/>
            <a:ext cx="6629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762500" y="48387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7BE0C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7BE0C6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边界</a:t>
            </a:r>
            <a:endParaRPr sz="1275" b="1">
              <a:solidFill>
                <a:srgbClr val="7BE0C6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905500" y="48387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Zod + Manifest V3</a:t>
            </a:r>
            <a:endParaRPr sz="13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239250" y="48387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结构化校验与 Chrome 扩展</a:t>
            </a:r>
            <a:endParaRPr sz="120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pic>
        <p:nvPicPr>
          <p:cNvPr id="40" name="图片 39" descr="屏幕截图_20260904_2358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4220845"/>
            <a:ext cx="2952750" cy="22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矩形 39"/>
          <p:cNvSpPr>
            <a:spLocks noGrp="1"/>
          </p:cNvSpPr>
          <p:nvPr/>
        </p:nvSpPr>
        <p:spPr>
          <a:xfrm>
            <a:off x="685800" y="34290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03  /  工程化</a:t>
            </a:r>
            <a:endParaRPr sz="1050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项目已</a:t>
            </a:r>
            <a:r>
              <a:rPr lang="zh-CN" sz="3000" b="1">
                <a:solidFill>
                  <a:srgbClr val="F4F7FB"/>
                </a:solidFill>
                <a:latin typeface="思源黑体 CN" panose="020B0500000000000000" charset="-122"/>
                <a:ea typeface="宋体" panose="02010600030101010101" pitchFamily="2" charset="-122"/>
                <a:cs typeface="思源黑体 CN" panose="020B0500000000000000" charset="-122"/>
              </a:rPr>
              <a:t>在</a:t>
            </a:r>
            <a:r>
              <a:rPr lang="en-US" altLang="zh-CN" sz="3000" b="1">
                <a:solidFill>
                  <a:srgbClr val="F4F7FB"/>
                </a:solidFill>
                <a:latin typeface="思源黑体 CN" panose="020B0500000000000000" charset="-122"/>
                <a:ea typeface="宋体" panose="02010600030101010101" pitchFamily="2" charset="-122"/>
                <a:cs typeface="思源黑体 CN" panose="020B0500000000000000" charset="-122"/>
              </a:rPr>
              <a:t>MIT</a:t>
            </a:r>
            <a:r>
              <a:rPr lang="zh-CN" altLang="en-US" sz="3000" b="1">
                <a:solidFill>
                  <a:srgbClr val="F4F7FB"/>
                </a:solidFill>
                <a:latin typeface="思源黑体 CN" panose="020B0500000000000000" charset="-122"/>
                <a:ea typeface="宋体" panose="02010600030101010101" pitchFamily="2" charset="-122"/>
                <a:cs typeface="思源黑体 CN" panose="020B0500000000000000" charset="-122"/>
              </a:rPr>
              <a:t>许可证下</a:t>
            </a:r>
            <a:r>
              <a:rPr sz="300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开源</a:t>
            </a:r>
            <a:endParaRPr sz="300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3335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GitHub Actions 按版本标签自动构建并上传发布产物</a:t>
            </a:r>
            <a:endParaRPr sz="135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809750"/>
            <a:ext cx="10820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Nexus 织知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82350" y="65151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03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2209800"/>
            <a:ext cx="5429250" cy="3162300"/>
          </a:xfrm>
          <a:prstGeom prst="roundRect">
            <a:avLst>
              <a:gd name="adj" fmla="val 3012"/>
            </a:avLst>
          </a:prstGeom>
          <a:solidFill>
            <a:srgbClr val="111D2B"/>
          </a:solidFill>
          <a:ln w="9525">
            <a:solidFill>
              <a:srgbClr val="284254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83615" y="223837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github.com/Micraow/nexus</a:t>
            </a:r>
            <a:endParaRPr sz="22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0" y="243840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标签触发</a:t>
            </a:r>
            <a:endParaRPr sz="1200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667500" y="2876550"/>
            <a:ext cx="1371600" cy="495300"/>
          </a:xfrm>
          <a:prstGeom prst="roundRect">
            <a:avLst>
              <a:gd name="adj" fmla="val 15385"/>
            </a:avLst>
          </a:prstGeom>
          <a:solidFill>
            <a:srgbClr val="162638"/>
          </a:solidFill>
          <a:ln w="9525">
            <a:solidFill>
              <a:srgbClr val="65D8F1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667500" y="30099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466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push v*</a:t>
            </a:r>
            <a:endParaRPr sz="1425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8039100" y="3124200"/>
            <a:ext cx="533400" cy="0"/>
          </a:xfrm>
          <a:prstGeom prst="line">
            <a:avLst/>
          </a:prstGeom>
          <a:noFill/>
          <a:ln w="19050">
            <a:solidFill>
              <a:srgbClr val="65D8F1"/>
            </a:solidFill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8524875" y="3076575"/>
            <a:ext cx="95250" cy="95250"/>
          </a:xfrm>
          <a:prstGeom prst="ellipse">
            <a:avLst/>
          </a:prstGeom>
          <a:solidFill>
            <a:srgbClr val="65D8F1"/>
          </a:solidFill>
          <a:ln w="0">
            <a:solidFill>
              <a:srgbClr val="65D8F1"/>
            </a:solidFill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8572500" y="2286000"/>
            <a:ext cx="0" cy="838200"/>
          </a:xfrm>
          <a:prstGeom prst="line">
            <a:avLst/>
          </a:prstGeom>
          <a:noFill/>
          <a:ln w="9525">
            <a:solidFill>
              <a:srgbClr val="24586A"/>
            </a:solidFill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8572500" y="2286000"/>
            <a:ext cx="323850" cy="0"/>
          </a:xfrm>
          <a:prstGeom prst="line">
            <a:avLst/>
          </a:prstGeom>
          <a:noFill/>
          <a:ln w="9525">
            <a:solidFill>
              <a:srgbClr val="24586A"/>
            </a:solidFill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8839200" y="2228850"/>
            <a:ext cx="114300" cy="114300"/>
          </a:xfrm>
          <a:prstGeom prst="ellipse">
            <a:avLst/>
          </a:prstGeom>
          <a:solidFill>
            <a:srgbClr val="7FB8DE"/>
          </a:solidFill>
          <a:ln w="0">
            <a:solidFill>
              <a:srgbClr val="7FB8DE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24950" y="2038350"/>
            <a:ext cx="1524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Windows</a:t>
            </a:r>
            <a:endParaRPr sz="13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24950" y="2314575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MSI · NSIS</a:t>
            </a:r>
            <a:endParaRPr sz="11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8572500" y="3124200"/>
            <a:ext cx="0" cy="0"/>
          </a:xfrm>
          <a:prstGeom prst="line">
            <a:avLst/>
          </a:prstGeom>
          <a:noFill/>
          <a:ln w="9525">
            <a:solidFill>
              <a:srgbClr val="24586A"/>
            </a:solidFill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8572500" y="3124200"/>
            <a:ext cx="323850" cy="0"/>
          </a:xfrm>
          <a:prstGeom prst="line">
            <a:avLst/>
          </a:prstGeom>
          <a:noFill/>
          <a:ln w="9525">
            <a:solidFill>
              <a:srgbClr val="24586A"/>
            </a:solidFill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8839200" y="3067050"/>
            <a:ext cx="114300" cy="114300"/>
          </a:xfrm>
          <a:prstGeom prst="ellipse">
            <a:avLst/>
          </a:prstGeom>
          <a:solidFill>
            <a:srgbClr val="7BE0C6"/>
          </a:solidFill>
          <a:ln w="0">
            <a:solidFill>
              <a:srgbClr val="7BE0C6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24950" y="2876550"/>
            <a:ext cx="1524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Linux</a:t>
            </a:r>
            <a:endParaRPr sz="13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24950" y="3152775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DEB · RPM · AppImage</a:t>
            </a:r>
            <a:endParaRPr sz="11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8572500" y="3124200"/>
            <a:ext cx="0" cy="838200"/>
          </a:xfrm>
          <a:prstGeom prst="line">
            <a:avLst/>
          </a:prstGeom>
          <a:noFill/>
          <a:ln w="9525">
            <a:solidFill>
              <a:srgbClr val="24586A"/>
            </a:solidFill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8572500" y="3962400"/>
            <a:ext cx="323850" cy="0"/>
          </a:xfrm>
          <a:prstGeom prst="line">
            <a:avLst/>
          </a:prstGeom>
          <a:noFill/>
          <a:ln w="9525">
            <a:solidFill>
              <a:srgbClr val="24586A"/>
            </a:solidFill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8839200" y="3905250"/>
            <a:ext cx="114300" cy="114300"/>
          </a:xfrm>
          <a:prstGeom prst="ellipse">
            <a:avLst/>
          </a:prstGeom>
          <a:solidFill>
            <a:srgbClr val="65D8F1"/>
          </a:solidFill>
          <a:ln w="0">
            <a:solidFill>
              <a:srgbClr val="65D8F1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124950" y="3714750"/>
            <a:ext cx="1524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macOS</a:t>
            </a:r>
            <a:endParaRPr sz="13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24950" y="3990975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DMG · ARM64</a:t>
            </a:r>
            <a:endParaRPr sz="11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8572500" y="3124200"/>
            <a:ext cx="0" cy="1676400"/>
          </a:xfrm>
          <a:prstGeom prst="line">
            <a:avLst/>
          </a:prstGeom>
          <a:noFill/>
          <a:ln w="9525">
            <a:solidFill>
              <a:srgbClr val="24586A"/>
            </a:solidFill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8572500" y="4800600"/>
            <a:ext cx="323850" cy="0"/>
          </a:xfrm>
          <a:prstGeom prst="line">
            <a:avLst/>
          </a:prstGeom>
          <a:noFill/>
          <a:ln w="9525">
            <a:solidFill>
              <a:srgbClr val="24586A"/>
            </a:solidFill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8839200" y="4743450"/>
            <a:ext cx="114300" cy="114300"/>
          </a:xfrm>
          <a:prstGeom prst="ellipse">
            <a:avLst/>
          </a:prstGeom>
          <a:solidFill>
            <a:srgbClr val="7FB8DE"/>
          </a:solidFill>
          <a:ln w="0">
            <a:solidFill>
              <a:srgbClr val="7FB8DE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124950" y="4552950"/>
            <a:ext cx="1524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Chrome</a:t>
            </a:r>
            <a:endParaRPr sz="13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124950" y="4829175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Extension ZIP</a:t>
            </a:r>
            <a:endParaRPr sz="11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667500" y="5619750"/>
            <a:ext cx="457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同一版本标签，产出桌面端与浏览器端交付物</a:t>
            </a:r>
            <a:endParaRPr sz="127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85800" y="5810250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>
              <a:defRPr sz="105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  <a:hlinkClick r:id="rId1"/>
              </a:rPr>
              <a:t>https://github.com/Micraow/nexus</a:t>
            </a:r>
            <a:endParaRPr sz="105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  <a:hlinkClick r:id="rId1"/>
            </a:endParaRPr>
          </a:p>
        </p:txBody>
      </p:sp>
      <p:pic>
        <p:nvPicPr>
          <p:cNvPr id="41" name="图片 40" descr="屏幕截图_20260905_0004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15" y="2654935"/>
            <a:ext cx="4671060" cy="2640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85800" y="188595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04  /  功能演示</a:t>
            </a:r>
            <a:endParaRPr sz="1050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476885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浏览器扩展导入对话</a:t>
            </a:r>
            <a:endParaRPr sz="300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95123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从 DeepSeek 导出 JSON，桌面端保存完整原始会话</a:t>
            </a:r>
            <a:endParaRPr sz="135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95325" y="1275080"/>
            <a:ext cx="10820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Nexus 织知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82350" y="65151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04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725" y="1484630"/>
            <a:ext cx="8718550" cy="4372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85800" y="34290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05  /  功能演示</a:t>
            </a:r>
            <a:endParaRPr sz="1050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任务中心</a:t>
            </a:r>
            <a:endParaRPr sz="300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3335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任务队列显示当前进度、校验阶段与失败重试</a:t>
            </a:r>
            <a:endParaRPr sz="135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809750"/>
            <a:ext cx="10820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Nexus 织知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82350" y="65151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05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pic>
        <p:nvPicPr>
          <p:cNvPr id="14" name="图片 13" descr="屏幕截图_20260830_1831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9660" y="1988820"/>
            <a:ext cx="7473315" cy="4104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85800" y="34290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06  /  功能演示</a:t>
            </a:r>
            <a:endParaRPr sz="1050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知识图谱</a:t>
            </a:r>
            <a:endParaRPr sz="300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3335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节点可以拖动，点击节点可以查看主题与证据内容</a:t>
            </a:r>
            <a:endParaRPr sz="135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809750"/>
            <a:ext cx="10820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Nexus 织知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82350" y="65151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06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pic>
        <p:nvPicPr>
          <p:cNvPr id="13" name="图片 12" descr="屏幕截图_20260830_2018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8525" y="1917065"/>
            <a:ext cx="7854950" cy="4319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矩形 36"/>
          <p:cNvSpPr>
            <a:spLocks noGrp="1"/>
          </p:cNvSpPr>
          <p:nvPr/>
        </p:nvSpPr>
        <p:spPr>
          <a:xfrm>
            <a:off x="685800" y="34290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07  /  现场互动</a:t>
            </a:r>
            <a:endParaRPr sz="1050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新对话：沿着当前分支继续探索</a:t>
            </a:r>
            <a:endParaRPr sz="300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3335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从任意主题或探索节点发起追问，回答挂回当前会话分支</a:t>
            </a:r>
            <a:endParaRPr sz="135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809750"/>
            <a:ext cx="10820400" cy="0"/>
          </a:xfrm>
          <a:prstGeom prst="line">
            <a:avLst/>
          </a:prstGeom>
          <a:noFill/>
          <a:ln w="9525">
            <a:solidFill>
              <a:srgbClr val="284254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Nexus 织知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82350" y="65151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07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09650" y="3143250"/>
            <a:ext cx="2000250" cy="685800"/>
          </a:xfrm>
          <a:prstGeom prst="roundRect">
            <a:avLst>
              <a:gd name="adj" fmla="val 12500"/>
            </a:avLst>
          </a:prstGeom>
          <a:solidFill>
            <a:srgbClr val="162638"/>
          </a:solidFill>
          <a:ln w="14288">
            <a:solidFill>
              <a:srgbClr val="7FB8DE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335280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主题 / 节点</a:t>
            </a:r>
            <a:endParaRPr sz="1425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143000" y="3276600"/>
            <a:ext cx="76200" cy="76200"/>
          </a:xfrm>
          <a:prstGeom prst="ellipse">
            <a:avLst/>
          </a:prstGeom>
          <a:solidFill>
            <a:srgbClr val="7FB8DE"/>
          </a:solidFill>
          <a:ln w="0">
            <a:solidFill>
              <a:srgbClr val="7FB8DE"/>
            </a:solidFill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3924300" y="3143250"/>
            <a:ext cx="2000250" cy="685800"/>
          </a:xfrm>
          <a:prstGeom prst="roundRect">
            <a:avLst>
              <a:gd name="adj" fmla="val 12500"/>
            </a:avLst>
          </a:prstGeom>
          <a:solidFill>
            <a:srgbClr val="162638"/>
          </a:solidFill>
          <a:ln w="14288">
            <a:solidFill>
              <a:srgbClr val="65D8F1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924300" y="335280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新问题</a:t>
            </a:r>
            <a:endParaRPr sz="1425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4057650" y="3276600"/>
            <a:ext cx="76200" cy="76200"/>
          </a:xfrm>
          <a:prstGeom prst="ellipse">
            <a:avLst/>
          </a:prstGeom>
          <a:solidFill>
            <a:srgbClr val="65D8F1"/>
          </a:solidFill>
          <a:ln w="0">
            <a:solidFill>
              <a:srgbClr val="65D8F1"/>
            </a:solidFill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38950" y="2438400"/>
            <a:ext cx="2000250" cy="685800"/>
          </a:xfrm>
          <a:prstGeom prst="roundRect">
            <a:avLst>
              <a:gd name="adj" fmla="val 12500"/>
            </a:avLst>
          </a:prstGeom>
          <a:solidFill>
            <a:srgbClr val="162638"/>
          </a:solidFill>
          <a:ln w="14288">
            <a:solidFill>
              <a:srgbClr val="7BE0C6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38950" y="264795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回答</a:t>
            </a:r>
            <a:endParaRPr sz="1425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6972300" y="2571750"/>
            <a:ext cx="76200" cy="76200"/>
          </a:xfrm>
          <a:prstGeom prst="ellipse">
            <a:avLst/>
          </a:prstGeom>
          <a:solidFill>
            <a:srgbClr val="7BE0C6"/>
          </a:solidFill>
          <a:ln w="0">
            <a:solidFill>
              <a:srgbClr val="7BE0C6"/>
            </a:solidFill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838950" y="4000500"/>
            <a:ext cx="2000250" cy="685800"/>
          </a:xfrm>
          <a:prstGeom prst="roundRect">
            <a:avLst>
              <a:gd name="adj" fmla="val 12500"/>
            </a:avLst>
          </a:prstGeom>
          <a:solidFill>
            <a:srgbClr val="162638"/>
          </a:solidFill>
          <a:ln w="14288">
            <a:solidFill>
              <a:srgbClr val="7FB8DE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38950" y="421005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继续追问</a:t>
            </a:r>
            <a:endParaRPr sz="1425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972300" y="4133850"/>
            <a:ext cx="76200" cy="76200"/>
          </a:xfrm>
          <a:prstGeom prst="ellipse">
            <a:avLst/>
          </a:prstGeom>
          <a:solidFill>
            <a:srgbClr val="7FB8DE"/>
          </a:solidFill>
          <a:ln w="0">
            <a:solidFill>
              <a:srgbClr val="7FB8DE"/>
            </a:solidFill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9848850" y="2438400"/>
            <a:ext cx="1428750" cy="685800"/>
          </a:xfrm>
          <a:prstGeom prst="roundRect">
            <a:avLst>
              <a:gd name="adj" fmla="val 12500"/>
            </a:avLst>
          </a:prstGeom>
          <a:solidFill>
            <a:srgbClr val="162638"/>
          </a:solidFill>
          <a:ln w="14288">
            <a:solidFill>
              <a:srgbClr val="7BE0C6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848850" y="26479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分支 A</a:t>
            </a:r>
            <a:endParaRPr sz="1425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9982200" y="2571750"/>
            <a:ext cx="76200" cy="76200"/>
          </a:xfrm>
          <a:prstGeom prst="ellipse">
            <a:avLst/>
          </a:prstGeom>
          <a:solidFill>
            <a:srgbClr val="7BE0C6"/>
          </a:solidFill>
          <a:ln w="0">
            <a:solidFill>
              <a:srgbClr val="7BE0C6"/>
            </a:solidFill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9848850" y="4000500"/>
            <a:ext cx="1428750" cy="685800"/>
          </a:xfrm>
          <a:prstGeom prst="roundRect">
            <a:avLst>
              <a:gd name="adj" fmla="val 12500"/>
            </a:avLst>
          </a:prstGeom>
          <a:solidFill>
            <a:srgbClr val="162638"/>
          </a:solidFill>
          <a:ln w="14288">
            <a:solidFill>
              <a:srgbClr val="65D8F1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848850" y="42100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分支 B</a:t>
            </a:r>
            <a:endParaRPr sz="1425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9982200" y="4133850"/>
            <a:ext cx="76200" cy="76200"/>
          </a:xfrm>
          <a:prstGeom prst="ellipse">
            <a:avLst/>
          </a:prstGeom>
          <a:solidFill>
            <a:srgbClr val="65D8F1"/>
          </a:solidFill>
          <a:ln w="0">
            <a:solidFill>
              <a:srgbClr val="65D8F1"/>
            </a:solidFill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3009900" y="3486150"/>
            <a:ext cx="914400" cy="0"/>
          </a:xfrm>
          <a:prstGeom prst="line">
            <a:avLst/>
          </a:prstGeom>
          <a:noFill/>
          <a:ln w="19050">
            <a:solidFill>
              <a:srgbClr val="65D8F1"/>
            </a:solidFill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3886200" y="3448050"/>
            <a:ext cx="76200" cy="76200"/>
          </a:xfrm>
          <a:prstGeom prst="ellipse">
            <a:avLst/>
          </a:prstGeom>
          <a:solidFill>
            <a:srgbClr val="65D8F1"/>
          </a:solidFill>
          <a:ln w="0">
            <a:solidFill>
              <a:srgbClr val="65D8F1"/>
            </a:solidFill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5924550" y="3486150"/>
            <a:ext cx="457200" cy="0"/>
          </a:xfrm>
          <a:prstGeom prst="line">
            <a:avLst/>
          </a:prstGeom>
          <a:noFill/>
          <a:ln w="19050">
            <a:solidFill>
              <a:srgbClr val="65D8F1"/>
            </a:solidFill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6381750" y="2781300"/>
            <a:ext cx="0" cy="704850"/>
          </a:xfrm>
          <a:prstGeom prst="line">
            <a:avLst/>
          </a:prstGeom>
          <a:noFill/>
          <a:ln w="19050">
            <a:solidFill>
              <a:srgbClr val="65D8F1"/>
            </a:solidFill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6381750" y="2781300"/>
            <a:ext cx="457200" cy="0"/>
          </a:xfrm>
          <a:prstGeom prst="line">
            <a:avLst/>
          </a:prstGeom>
          <a:noFill/>
          <a:ln w="19050">
            <a:solidFill>
              <a:srgbClr val="65D8F1"/>
            </a:solidFill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6381750" y="3486150"/>
            <a:ext cx="0" cy="857250"/>
          </a:xfrm>
          <a:prstGeom prst="line">
            <a:avLst/>
          </a:prstGeom>
          <a:noFill/>
          <a:ln w="19050">
            <a:solidFill>
              <a:srgbClr val="7FB8DE"/>
            </a:solidFill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381750" y="4343400"/>
            <a:ext cx="457200" cy="0"/>
          </a:xfrm>
          <a:prstGeom prst="line">
            <a:avLst/>
          </a:prstGeom>
          <a:noFill/>
          <a:ln w="19050">
            <a:solidFill>
              <a:srgbClr val="7FB8DE"/>
            </a:solidFill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8839200" y="2781300"/>
            <a:ext cx="1009650" cy="0"/>
          </a:xfrm>
          <a:prstGeom prst="line">
            <a:avLst/>
          </a:prstGeom>
          <a:noFill/>
          <a:ln w="19050">
            <a:solidFill>
              <a:srgbClr val="7BE0C6"/>
            </a:solidFill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8839200" y="4343400"/>
            <a:ext cx="1009650" cy="0"/>
          </a:xfrm>
          <a:prstGeom prst="line">
            <a:avLst/>
          </a:prstGeom>
          <a:noFill/>
          <a:ln w="19050">
            <a:solidFill>
              <a:srgbClr val="65D8F1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09650" y="5219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现场演示重点</a:t>
            </a:r>
            <a:endParaRPr sz="1200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09650" y="5562600"/>
            <a:ext cx="8477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选择一个知识主题 → 打开新对话 → 继续追问 → 回到分支树查看上下文</a:t>
            </a:r>
            <a:endParaRPr sz="165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09650" y="59436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树状探索来自真实的会话导航关系，每个分支都可以独立回看。</a:t>
            </a:r>
            <a:endParaRPr sz="1200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pic>
        <p:nvPicPr>
          <p:cNvPr id="38" name="图片 37" descr="屏幕截图_20260829_2354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620395"/>
            <a:ext cx="11012805" cy="6052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直接连接符 15"/>
          <p:cNvSpPr>
            <a:spLocks noGrp="1"/>
          </p:cNvSpPr>
          <p:nvPr/>
        </p:nvSpPr>
        <p:spPr>
          <a:xfrm>
            <a:off x="6000750" y="1447800"/>
            <a:ext cx="2095500" cy="895350"/>
          </a:xfrm>
          <a:prstGeom prst="line">
            <a:avLst/>
          </a:prstGeom>
          <a:noFill/>
          <a:ln w="19050">
            <a:solidFill>
              <a:srgbClr val="1C5367"/>
            </a:solidFill>
          </a:ln>
        </p:spPr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000750" y="1447800"/>
            <a:ext cx="857250" cy="2419350"/>
          </a:xfrm>
          <a:prstGeom prst="line">
            <a:avLst/>
          </a:prstGeom>
          <a:noFill/>
          <a:ln w="19050">
            <a:solidFill>
              <a:srgbClr val="1C5367"/>
            </a:solidFill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8096250" y="2343150"/>
            <a:ext cx="666750" cy="1752600"/>
          </a:xfrm>
          <a:prstGeom prst="line">
            <a:avLst/>
          </a:prstGeom>
          <a:noFill/>
          <a:ln w="19050">
            <a:solidFill>
              <a:srgbClr val="1C5367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0" y="3867150"/>
            <a:ext cx="1905000" cy="228600"/>
          </a:xfrm>
          <a:prstGeom prst="line">
            <a:avLst/>
          </a:prstGeom>
          <a:noFill/>
          <a:ln w="19050">
            <a:solidFill>
              <a:srgbClr val="1C5367"/>
            </a:solidFill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838825" y="1285875"/>
            <a:ext cx="323850" cy="323850"/>
          </a:xfrm>
          <a:prstGeom prst="ellipse">
            <a:avLst/>
          </a:prstGeom>
          <a:solidFill>
            <a:srgbClr val="65D8F1"/>
          </a:solidFill>
          <a:ln w="0">
            <a:solidFill>
              <a:srgbClr val="65D8F1"/>
            </a:solidFill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8001000" y="2247900"/>
            <a:ext cx="190500" cy="190500"/>
          </a:xfrm>
          <a:prstGeom prst="ellipse">
            <a:avLst/>
          </a:prstGeom>
          <a:solidFill>
            <a:srgbClr val="7FB8DE"/>
          </a:solidFill>
          <a:ln w="0">
            <a:solidFill>
              <a:srgbClr val="7FB8DE"/>
            </a:solidFill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6753225" y="3762375"/>
            <a:ext cx="209550" cy="209550"/>
          </a:xfrm>
          <a:prstGeom prst="ellipse">
            <a:avLst/>
          </a:prstGeom>
          <a:solidFill>
            <a:srgbClr val="7BE0C6"/>
          </a:solidFill>
          <a:ln w="0">
            <a:solidFill>
              <a:srgbClr val="7BE0C6"/>
            </a:solidFill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8639175" y="3971925"/>
            <a:ext cx="247650" cy="247650"/>
          </a:xfrm>
          <a:prstGeom prst="ellipse">
            <a:avLst/>
          </a:prstGeom>
          <a:solidFill>
            <a:srgbClr val="7FB8DE"/>
          </a:solidFill>
          <a:ln w="0">
            <a:solidFill>
              <a:srgbClr val="7FB8DE"/>
            </a:solidFill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876300"/>
            <a:ext cx="819150" cy="8191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723900" y="2419350"/>
            <a:ext cx="4953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5400" b="1">
                <a:solidFill>
                  <a:srgbClr val="F4F7F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5400" b="1">
                <a:solidFill>
                  <a:srgbClr val="F4F7FB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谢谢</a:t>
            </a:r>
            <a:endParaRPr sz="5400" b="1">
              <a:solidFill>
                <a:srgbClr val="F4F7FB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50520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65D8F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65D8F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欢迎提问</a:t>
            </a:r>
            <a:endParaRPr sz="2250" b="1">
              <a:solidFill>
                <a:srgbClr val="65D8F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781050" y="4457700"/>
            <a:ext cx="2552700" cy="0"/>
          </a:xfrm>
          <a:prstGeom prst="line">
            <a:avLst/>
          </a:prstGeom>
          <a:noFill/>
          <a:ln w="28575">
            <a:solidFill>
              <a:srgbClr val="7BE0C6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Nexus 织知</a:t>
            </a:r>
            <a:endParaRPr sz="1500" b="1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518160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github.com/Micraow/nexus</a:t>
            </a:r>
            <a:endParaRPr sz="11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182350" y="65151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825" b="0">
                <a:solidFill>
                  <a:srgbClr val="9BB1C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BB1C3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08</a:t>
            </a:r>
            <a:endParaRPr sz="825" b="0">
              <a:solidFill>
                <a:srgbClr val="9BB1C3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1012</Words>
  <Application>WPS 演示</Application>
  <PresentationFormat>Converted Presentation</PresentationFormat>
  <Paragraphs>172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方正仿宋_GBK</vt:lpstr>
      <vt:lpstr>思源黑体 CN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彭勃</cp:lastModifiedBy>
  <cp:revision>3</cp:revision>
  <dcterms:created xsi:type="dcterms:W3CDTF">2026-09-04T16:17:23Z</dcterms:created>
  <dcterms:modified xsi:type="dcterms:W3CDTF">2026-09-04T16:17:23Z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433247DD1A28E4D728EE9A6AF7B1E29F_42</vt:lpwstr>
  </property>
  <property fmtid="{D5CDD505-2E9C-101B-9397-08002B2CF9AE}" pid="3" name="KSOProductBuildVer">
    <vt:lpwstr>2052-12.1.2.28080</vt:lpwstr>
  </property>
</Properties>
</file>